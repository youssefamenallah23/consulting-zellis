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FTE (GBP 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Zellis (target)</c:v>
                </c:pt>
                <c:pt idx="1">
                  <c:v>Access</c:v>
                </c:pt>
                <c:pt idx="2">
                  <c:v>IRIS (FY2024 basis)</c:v>
                </c:pt>
                <c:pt idx="3">
                  <c:v>OneAdvanced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98.3306967984934</c:v>
                </c:pt>
                <c:pt idx="1">
                  <c:v>163.58571117403616</c:v>
                </c:pt>
                <c:pt idx="2">
                  <c:v>125.09845947756196</c:v>
                </c:pt>
                <c:pt idx="3">
                  <c:v>135.33026719229085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Staff cost per FTE (GBP 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Zellis (target)</c:v>
                </c:pt>
                <c:pt idx="1">
                  <c:v>Access</c:v>
                </c:pt>
                <c:pt idx="2">
                  <c:v>IRIS (FY2024 basis)</c:v>
                </c:pt>
                <c:pt idx="3">
                  <c:v>OneAdvanced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51.40790960451977</c:v>
                </c:pt>
                <c:pt idx="1">
                  <c:v>65.35787410150294</c:v>
                </c:pt>
                <c:pt idx="2">
                  <c:v>54.01272605492297</c:v>
                </c:pt>
                <c:pt idx="3">
                  <c:v>49.73674989049496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Staff cost as % of revenue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Zellis (target)</c:v>
                </c:pt>
                <c:pt idx="1">
                  <c:v>Access</c:v>
                </c:pt>
                <c:pt idx="2">
                  <c:v>IRIS (FY2024 basis)</c:v>
                </c:pt>
                <c:pt idx="3">
                  <c:v>OneAdvanced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52.280631866027235</c:v>
                </c:pt>
                <c:pt idx="1">
                  <c:v>39.953290316395524</c:v>
                </c:pt>
                <c:pt idx="2">
                  <c:v>43.17617201721885</c:v>
                </c:pt>
                <c:pt idx="3">
                  <c:v>36.752125686579774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Staff cost as % of 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58.09283482464324</c:v>
                </c:pt>
                <c:pt idx="1">
                  <c:v>53.6686626746507</c:v>
                </c:pt>
                <c:pt idx="2">
                  <c:v>53.36899245595999</c:v>
                </c:pt>
                <c:pt idx="3">
                  <c:v>54.027645376549096</c:v>
                </c:pt>
                <c:pt idx="4">
                  <c:v>52.28063186602724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Zellis generates 27% less revenue per employee than PE peers - worth ~GBP 32m of annual EBITDA</a:t>
            </a:r>
          </a:p>
          <a:p>
            <a:r>
              <a:rPr sz="1400">
                <a:solidFill>
                  <a:srgbClr val="595959"/>
                </a:solidFill>
              </a:rPr>
              <a:t>Rightsizing diagnostic | Investment Committee | Prepared from public filings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Situation: Apax and Vitruvian acquired Zellis (UK &amp; Ireland payroll/HR software) in April 2024 for ~GBP 1.25bn.</a:t>
            </a:r>
          </a:p>
          <a:p>
            <a:pPr>
              <a:defRPr sz="1600"/>
            </a:pPr>
            <a:r>
              <a:t>Complication: FY2025 revenue per FTE is GBP 98k vs a PE-peer median of GBP 135k - a 27% gap.</a:t>
            </a:r>
          </a:p>
          <a:p>
            <a:pPr>
              <a:defRPr sz="1600"/>
            </a:pPr>
            <a:r>
              <a:t>Insight: Zellis pays LESS per head than peers (GBP 51k vs GBP 58k), so this is an output problem, not a pay problem.</a:t>
            </a:r>
          </a:p>
          <a:p>
            <a:pPr>
              <a:defRPr sz="1600"/>
            </a:pPr>
            <a:r>
              <a:t>Trajectory: the staff-cost ratio improved from 58% to 52% in four years while revenue grew 14%/yr - invest, don't slash.</a:t>
            </a:r>
          </a:p>
          <a:p>
            <a:pPr>
              <a:defRPr sz="1600"/>
            </a:pPr>
            <a:r>
              <a:t>Value at stake: ~GBP 32m annualised EBITDA (ratio route) to GBP 37m (headcount route) if the gap closes to the peer median.</a:t>
            </a:r>
          </a:p>
          <a:p>
            <a:pPr>
              <a:defRPr sz="1600"/>
            </a:pPr>
            <a:r>
              <a:t>Recommendation: a productivity-focused operating review and management dialogues - not a headcount cap.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 new sponsor needs an organisational view of the UK's largest payroll platform</a:t>
            </a:r>
          </a:p>
          <a:p>
            <a:r>
              <a:rPr sz="1400">
                <a:solidFill>
                  <a:srgbClr val="595959"/>
                </a:solidFill>
              </a:rPr>
              <a:t>Why this company, why now, and how we sized it from public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Zellis Holdings: payroll &amp; HR software and services (Zellis, Moorepay, Benifex brands); ~GBP 261m revenue, ~2,655 FTE (FY2025).</a:t>
            </a:r>
          </a:p>
          <a:p>
            <a:pPr>
              <a:defRPr sz="1600"/>
            </a:pPr>
            <a:r>
              <a:t>Ownership: Bain Capital sold to Apax Funds &amp; Vitruvian Partners in April 2024 (GBP 1.25bn) - a fresh value creation plan is being built.</a:t>
            </a:r>
          </a:p>
          <a:p>
            <a:pPr>
              <a:defRPr sz="1600"/>
            </a:pPr>
            <a:r>
              <a:t>Peer set (all PE-owned, UK-filed group accounts): OneAdvanced (Vista/BC Partners), Access UK (Hg/TA) and IRIS (Hg/Leonard Green) - each at its latest comparable filed year.</a:t>
            </a:r>
          </a:p>
          <a:p>
            <a:pPr>
              <a:defRPr sz="1600"/>
            </a:pPr>
            <a:r>
              <a:t>Method: Companies House filings OCR'd and benchmarked (revenue per FTE, staff-cost ratio, 3-year CAGR); model in model/ValueAtStake.xlsx.</a:t>
            </a:r>
          </a:p>
          <a:p>
            <a:pPr>
              <a:defRPr sz="1600"/>
            </a:pPr>
            <a:r>
              <a:t>Basis note: Zellis and OneAdvanced at group level; Access is an acquisition roll-up entity - treated with an M&amp;A caveat.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Output per head is 27% below the PE-peer median - and scale does not explain it</a:t>
            </a:r>
          </a:p>
          <a:p>
            <a:r>
              <a:rPr sz="1400">
                <a:solidFill>
                  <a:srgbClr val="595959"/>
                </a:solidFill>
              </a:rPr>
              <a:t>Revenue per average FTE, FY2025 (GBP k) - PE peers only; Sage (listed) shown as context, excluded from medians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73736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Gap vs median (GBP 135k): 27%. Versus the scale-matched peer (OneAdvanced, GBP 309m revenue): 27%.</a:t>
            </a:r>
          </a:p>
          <a:p>
            <a:pPr>
              <a:defRPr sz="1600"/>
            </a:pPr>
            <a:r>
              <a:t>OneAdvanced's size (GBP 309m vs Zellis GBP 261m) rules out a pure scale artefact; IRIS (GBP 374m) at 27% too.</a:t>
            </a:r>
          </a:p>
          <a:p>
            <a:pPr>
              <a:defRPr sz="1600"/>
            </a:pPr>
            <a:r>
              <a:t>Access is higher still (GBP 164k), but its growth is heavily acquisition-driven - treated as a caveat, not a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Zellis pays less per head than peers - the gap is output, not compensation</a:t>
            </a:r>
          </a:p>
          <a:p>
            <a:r>
              <a:rPr sz="1400">
                <a:solidFill>
                  <a:srgbClr val="595959"/>
                </a:solidFill>
              </a:rPr>
              <a:t>Staff cost per FTE (GBP k) and staff cost as % of revenue, FY2025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73736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Cost per FTE: Zellis GBP 51k vs peer median GBP 54k - below the median.</a:t>
            </a:r>
          </a:p>
          <a:p>
            <a:pPr>
              <a:defRPr sz="1600"/>
            </a:pPr>
            <a:r>
              <a:t>Yet staff cost = 52% of revenue vs peer median 40% - a 12-point gap.</a:t>
            </a:r>
          </a:p>
          <a:p>
            <a:pPr>
              <a:defRPr sz="1600"/>
            </a:pPr>
            <a:r>
              <a:t>Implication: the same payroll delivers less revenue per pound of pay - organisational output, mix or process, not salary inflation.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The trajectory is improving - this is efficiency of investment, not decline</a:t>
            </a:r>
          </a:p>
          <a:p>
            <a:r>
              <a:rPr sz="1400">
                <a:solidFill>
                  <a:srgbClr val="595959"/>
                </a:solidFill>
              </a:rPr>
              <a:t>Zellis group staff cost as % of revenue, FY2021-FY2025, with revenue CAGR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73736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Staff ratio fell from 58.1% (FY2021) to 52.3% (FY2025) - 5.8 points of self-delivered improvement.</a:t>
            </a:r>
          </a:p>
          <a:p>
            <a:pPr>
              <a:defRPr sz="1600"/>
            </a:pPr>
            <a:r>
              <a:t>Revenue compounded at 14.2%/yr over the same period; peer OneAdvanced went backwards (-0.8%/yr).</a:t>
            </a:r>
          </a:p>
          <a:p>
            <a:pPr>
              <a:defRPr sz="1600"/>
            </a:pPr>
            <a:r>
              <a:t>Headcount grew only 19% while revenue grew 64% - the organisation is already absorbing growth.</a:t>
            </a:r>
          </a:p>
          <a:p>
            <a:pPr>
              <a:defRPr sz="1600"/>
            </a:pPr>
            <a:r>
              <a:t>Implication for the IC: close the gap through productivity and mix - a forced headcount cut would risk the growth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Closing the gap to the peer median is worth GBP 32-37m of annualised EBITDA</a:t>
            </a:r>
          </a:p>
          <a:p>
            <a:r>
              <a:rPr sz="1400">
                <a:solidFill>
                  <a:srgbClr val="595959"/>
                </a:solidFill>
              </a:rPr>
              <a:t>Dual-method sizing (model/ValueAtStake.xlsx); scenarios anchored to the peer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Method A (staff-ratio gap x revenue): 12 pts x GBP 261m = ~GBP 32m.</a:t>
            </a:r>
          </a:p>
          <a:p>
            <a:pPr>
              <a:defRPr sz="1600"/>
            </a:pPr>
            <a:r>
              <a:t>Method B (headcount implied by peer productivity): ~726 FTE x GBP 51k = ~GBP 37m.</a:t>
            </a:r>
          </a:p>
          <a:p>
            <a:pPr>
              <a:defRPr sz="1600"/>
            </a:pPr>
            <a:r>
              <a:t>Cross-check gap of 16% is explained: peers pay similar or more per head, so closing output at Zellis's pay levels converts to less cash - Method B is the conservative case.</a:t>
            </a:r>
          </a:p>
          <a:p>
            <a:pPr>
              <a:defRPr sz="1600"/>
            </a:pPr>
            <a:r>
              <a:t>Scenarios (peer-percentile anchored): Low ~GBP 16m (half-gap) | Base ~GBP 32m (median) | High ~GBP 37m+ (toward peer 75th pct).</a:t>
            </a:r>
          </a:p>
          <a:p>
            <a:pPr>
              <a:defRPr sz="1600"/>
            </a:pPr>
            <a:r>
              <a:t>Year-1 phasing: 60% realisation, 25% one-off implementation cost -&gt; ~GBP 13m net year-1 (base).</a:t>
            </a:r>
          </a:p>
          <a:p>
            <a:pPr>
              <a:defRPr sz="1600"/>
            </a:pPr>
            <a:r>
              <a:t>Full workings: model/ValueAtStake.xlsx - live formulas, peer percentiles, and a 2-way sensitivity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We recommend a productivity-focused operating review - not a headcount cap</a:t>
            </a:r>
          </a:p>
          <a:p>
            <a:r>
              <a:rPr sz="1400">
                <a:solidFill>
                  <a:srgbClr val="595959"/>
                </a:solidFill>
              </a:rPr>
              <a:t>Three actions that fit the value creation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Productivity diagnostic at business-unit level (Zellis / Moorepay / Benifex): reconcile the group-level 34% gap to unit-level drivers - spans of control, service mix, delivery model.</a:t>
            </a:r>
          </a:p>
          <a:p>
            <a:pPr>
              <a:defRPr sz="1600"/>
            </a:pPr>
            <a:r>
              <a:t>2. Commercial engine review: payroll &amp; BPaaS pricing and packaging - the low cost per FTE suggests capacity to serve more revenue per head without new hires.</a:t>
            </a:r>
          </a:p>
          <a:p>
            <a:pPr>
              <a:defRPr sz="1600"/>
            </a:pPr>
            <a:r>
              <a:t>3. Codify the improvement: the staff ratio improved 5.8 points in four years - extract what worked (automation, centralisation) and set it as the FY2026 operating target (52% -&gt; sub-48%).</a:t>
            </a:r>
          </a:p>
          <a:p>
            <a:pPr>
              <a:defRPr sz="1600"/>
            </a:pPr>
            <a:r>
              <a:t>Explicitly NOT recommended: a top-down headcount reduction. The growth engine (14%/yr) is the asset the sponsors bought; the gap closes through output, not exits.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Three data caveats could move the answer - none changes the direction</a:t>
            </a:r>
          </a:p>
          <a:p>
            <a:r>
              <a:rPr sz="1400">
                <a:solidFill>
                  <a:srgbClr val="595959"/>
                </a:solidFill>
              </a:rPr>
              <a:t>What would make us revise, and by how much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Entity vs group basis: Zellis and OneAdvanced are group accounts; Access is a roll-up entity whose M&amp;A-driven growth flatters its productivity - excluding Access lowers the median and widens the gap (more value at stake, not less).</a:t>
            </a:r>
          </a:p>
          <a:p>
            <a:pPr>
              <a:defRPr sz="1600"/>
            </a:pPr>
            <a:r>
              <a:t>Accounting comparability: OneAdvanced FY2024 restatement and AppMod disposal (continuing-ops basis used); Zellis FY2022 headcount restatement; IRIS FY2025 covers a 13.5-month first period - its FY2024 12-month accounts are used instead.</a:t>
            </a:r>
          </a:p>
          <a:p>
            <a:pPr>
              <a:defRPr sz="1600"/>
            </a:pPr>
            <a:r>
              <a:t>Public-data limits: filings show cost, not output quality - revenue per FTE blends pricing, mix and efficiency; only management dialogues can separate them.</a:t>
            </a:r>
          </a:p>
          <a:p>
            <a:pPr>
              <a:defRPr sz="1600"/>
            </a:pPr>
            <a:r>
              <a:t>Mitigation: all figures are in the data log with filing + page references; restatements flagged; the model recomputes from the data tab.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Five management dialogues would convert this hypothesis into an executable plan</a:t>
            </a:r>
          </a:p>
          <a:p>
            <a:r>
              <a:rPr sz="1400">
                <a:solidFill>
                  <a:srgbClr val="595959"/>
                </a:solidFill>
              </a:rPr>
              <a:t>What public data cannot prove - and who in the business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CFO: reconcile the 12-point staff-ratio gap - how much is mix (services vs software), how much is span of control and layers?</a:t>
            </a:r>
          </a:p>
          <a:p>
            <a:pPr>
              <a:defRPr sz="1600"/>
            </a:pPr>
            <a:r>
              <a:t>MD Zellis (enterprise): capacity utilisation in managed services and implementations - is the delivery bench under-loaded?</a:t>
            </a:r>
          </a:p>
          <a:p>
            <a:pPr>
              <a:defRPr sz="1600"/>
            </a:pPr>
            <a:r>
              <a:t>MD Moorepay (SMB): pricing and package mix vs OneAdvanced's SMB payroll business - revenue per client trends.</a:t>
            </a:r>
          </a:p>
          <a:p>
            <a:pPr>
              <a:defRPr sz="1600"/>
            </a:pPr>
            <a:r>
              <a:t>CHRO: attrition, open roles and time-to-fill - is the 2,655 FTE base carrying vacancy-driven agency cost?</a:t>
            </a:r>
          </a:p>
          <a:p>
            <a:pPr>
              <a:defRPr sz="1600"/>
            </a:pPr>
            <a:r>
              <a:t>CTO/CPO: automation roadmap (AI in payroll processing) - what output gain is already committed in the FY2026 plan?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Next steps: a 90-day path from diagnostic to value</a:t>
            </a:r>
          </a:p>
          <a:p>
            <a:r>
              <a:rPr sz="1400">
                <a:solidFill>
                  <a:srgbClr val="595959"/>
                </a:solidFill>
              </a:rPr>
              <a:t>Owned, dated, and consistent with the sponsors' value creation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Days 0-30: business-unit productivity diagnostic (data + activity analysis) and the five management dialogues above.</a:t>
            </a:r>
          </a:p>
          <a:p>
            <a:pPr>
              <a:defRPr sz="1600"/>
            </a:pPr>
            <a:r>
              <a:t>Days 30-60: commercial engine review (pricing, packaging, service mix) and FY2026 operating target setting (staff ratio &lt; 48%).</a:t>
            </a:r>
          </a:p>
          <a:p>
            <a:pPr>
              <a:defRPr sz="1600"/>
            </a:pPr>
            <a:r>
              <a:t>Days 60-90: implementation plan with named owners, tracked against the model's year-1 phasing; IC checkpoint on the GBP 32m base case.</a:t>
            </a:r>
          </a:p>
          <a:p>
            <a:pPr>
              <a:defRPr sz="1600"/>
            </a:pPr>
            <a:r>
              <a:t>Appendix available on request: data log, sourcing map, model, OCR pipeline, and this deck's build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